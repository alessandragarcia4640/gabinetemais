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GABINETE+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656539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Google Forms — 10 respostas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73A5C">
              <a:alpha val="85000"/>
            </a:srgbClr>
          </a:solidFill>
          <a:ln w="12700">
            <a:solidFill>
              <a:srgbClr val="173A5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Diagnóstico do ingresso e da aprendizagem das funções de assessoria de gabinete no TRT9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27889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AF5"/>
                </a:solidFill>
              </a:rPr>
              <a:t>Resultados de 10 respostas ao questionário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342900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Objetivo: compreender como ocorre o ingresso, a aprendizagem inicial e a conquista de autonomia na função.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6080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AF5"/>
                </a:solidFill>
              </a:rPr>
              <a:t>Projeto Gabinete+  |  Agosto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Como ler os resultados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Levantamento exploratório com respostas voluntárias de profissionais com experiência em assessoria no TRT9.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377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82296" cy="1417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83080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</a:rPr>
              <a:t>10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41248" y="2313432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respostas válidas e com consentimento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600200"/>
            <a:ext cx="2377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600200"/>
            <a:ext cx="82296" cy="1417320"/>
          </a:xfrm>
          <a:prstGeom prst="rect">
            <a:avLst/>
          </a:prstGeom>
          <a:solidFill>
            <a:srgbClr val="3C8DAD"/>
          </a:solidFill>
          <a:ln w="12700">
            <a:solidFill>
              <a:srgbClr val="3C8D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1783080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C8DAD"/>
                </a:solidFill>
              </a:rPr>
              <a:t>10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447288" y="2313432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questões analisadas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2160" y="1600200"/>
            <a:ext cx="2377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1600200"/>
            <a:ext cx="82296" cy="1417320"/>
          </a:xfrm>
          <a:prstGeom prst="rect">
            <a:avLst/>
          </a:prstGeom>
          <a:solidFill>
            <a:srgbClr val="4A8F6B"/>
          </a:solidFill>
          <a:ln w="12700">
            <a:solidFill>
              <a:srgbClr val="4A8F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53328" y="1783080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A8F6B"/>
                </a:solidFill>
              </a:rPr>
              <a:t>5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053328" y="2313432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questões de resposta única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58200" y="1600200"/>
            <a:ext cx="2377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1600200"/>
            <a:ext cx="82296" cy="1417320"/>
          </a:xfrm>
          <a:prstGeom prst="rect">
            <a:avLst/>
          </a:prstGeom>
          <a:solidFill>
            <a:srgbClr val="D59B2D"/>
          </a:solidFill>
          <a:ln w="12700">
            <a:solidFill>
              <a:srgbClr val="D59B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59368" y="1783080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59B2D"/>
                </a:solidFill>
              </a:rPr>
              <a:t>5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8659368" y="2313432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questões com múltipla seleção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429000"/>
            <a:ext cx="107899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Cuidados de interpretação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416052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A amostra é pequena e não representa necessariamente todo o TRT9.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Em perguntas de múltipla escolha, os percentuais não somam 100%.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Os resultados são mais úteis para identificar padrões, lacunas e prioridades de melhoria do processo de integração.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Perfil da amostra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 maioria dos respondentes possui experiência longa em assessoria.</a:t>
            </a:r>
            <a:endParaRPr lang="en-US" sz="1250" dirty="0"/>
          </a:p>
        </p:txBody>
      </p:sp>
      <p:pic>
        <p:nvPicPr>
          <p:cNvPr id="4" name="Image 0" descr="/mnt/data/gabinete_forms_charts/01_tem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667512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554480"/>
            <a:ext cx="3977640" cy="434340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7556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Leituras principais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799832" y="2322576"/>
            <a:ext cx="100584" cy="100584"/>
          </a:xfrm>
          <a:prstGeom prst="ellipse">
            <a:avLst/>
          </a:prstGeom>
          <a:solidFill>
            <a:srgbClr val="3C8DAD"/>
          </a:solidFill>
          <a:ln w="12700">
            <a:solidFill>
              <a:srgbClr val="3C8D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01000" y="2240280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80% têm 4 anos ou mais de experiência.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799832" y="3127248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304495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40% possuem mais de 10 anos na função.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7799832" y="3931920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3849624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As respostas refletem percepções acumuladas de profissionais experientes.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Experiência anterior semelhante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Metade ingressou sem ter trabalhado antes em atividade semelhante.</a:t>
            </a:r>
            <a:endParaRPr lang="en-US" sz="1250" dirty="0"/>
          </a:p>
        </p:txBody>
      </p:sp>
      <p:pic>
        <p:nvPicPr>
          <p:cNvPr id="4" name="Image 0" descr="/mnt/data/gabinete_forms_charts/02_experiencia_prev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667512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554480"/>
            <a:ext cx="3977640" cy="434340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7556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Leituras principais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799832" y="2322576"/>
            <a:ext cx="100584" cy="100584"/>
          </a:xfrm>
          <a:prstGeom prst="ellipse">
            <a:avLst/>
          </a:prstGeom>
          <a:solidFill>
            <a:srgbClr val="3C8DAD"/>
          </a:solidFill>
          <a:ln w="12700">
            <a:solidFill>
              <a:srgbClr val="3C8D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01000" y="2240280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50% não tinham experiência semelhante antes de assumir.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799832" y="3127248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304495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40% já haviam atuado em atividade semelhante no próprio TRT9.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7799832" y="3931920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3849624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A integração precisa atender tanto iniciantes quanto pessoas com experiência interna.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Conhecimento prévio sobre as funções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O nível médio declarado foi 3,1 em uma escala de 1 a 5.</a:t>
            </a:r>
            <a:endParaRPr lang="en-US" sz="1250" dirty="0"/>
          </a:p>
        </p:txBody>
      </p:sp>
      <p:pic>
        <p:nvPicPr>
          <p:cNvPr id="4" name="Image 0" descr="/mnt/data/gabinete_forms_charts/03_conheci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667512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554480"/>
            <a:ext cx="3977640" cy="434340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7556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Leituras principais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799832" y="2322576"/>
            <a:ext cx="100584" cy="100584"/>
          </a:xfrm>
          <a:prstGeom prst="ellipse">
            <a:avLst/>
          </a:prstGeom>
          <a:solidFill>
            <a:srgbClr val="3C8DAD"/>
          </a:solidFill>
          <a:ln w="12700">
            <a:solidFill>
              <a:srgbClr val="3C8D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01000" y="2240280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50% escolheram o nível intermediário 3.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799832" y="3127248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304495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30% indicaram conhecimento alto ou muito alto (4 ou 5).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7799832" y="3931920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3849624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20% iniciaram com conhecimento baixo (1 ou 2).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O que já era conhecido antes do início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O conhecimento prévio concentrou-se nas atividades jurídicas centrais.</a:t>
            </a:r>
            <a:endParaRPr lang="en-US" sz="1250" dirty="0"/>
          </a:p>
        </p:txBody>
      </p:sp>
      <p:pic>
        <p:nvPicPr>
          <p:cNvPr id="4" name="Image 0" descr="/mnt/data/gabinete_forms_charts/04_atividades_prev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7315200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50876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17099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Leituras principais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165592" y="2276856"/>
            <a:ext cx="100584" cy="100584"/>
          </a:xfrm>
          <a:prstGeom prst="ellipse">
            <a:avLst/>
          </a:prstGeom>
          <a:solidFill>
            <a:srgbClr val="3C8DAD"/>
          </a:solidFill>
          <a:ln w="12700">
            <a:solidFill>
              <a:srgbClr val="3C8D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66760" y="2194560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Minutas e pesquisa jurídica foram conhecidas por todos.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8165592" y="3081528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66760" y="2999232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Sistemas processuais já eram conhecidos por 90%.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165592" y="3886200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6760" y="3803904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Rotinas administrativas e organização do fluxo foram os pontos menos conhecidos.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Como o conhecimento prévio foi adquirido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 aprendizagem informal e a experiência prática tiveram grande peso.</a:t>
            </a:r>
            <a:endParaRPr lang="en-US" sz="1250" dirty="0"/>
          </a:p>
        </p:txBody>
      </p:sp>
      <p:pic>
        <p:nvPicPr>
          <p:cNvPr id="4" name="Image 0" descr="/mnt/data/gabinete_forms_charts/05_fontes_prev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7315200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50876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17099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Leituras principais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165592" y="2276856"/>
            <a:ext cx="100584" cy="100584"/>
          </a:xfrm>
          <a:prstGeom prst="ellipse">
            <a:avLst/>
          </a:prstGeom>
          <a:solidFill>
            <a:srgbClr val="3C8DAD"/>
          </a:solidFill>
          <a:ln w="12700">
            <a:solidFill>
              <a:srgbClr val="3C8D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66760" y="2194560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70% citaram orientação informal de colegas.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8165592" y="3081528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66760" y="2999232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60% apontaram experiência anterior no Judiciário.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165592" y="3886200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6760" y="3803904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Formação acadêmica e estudo autônomo foram citados por metade.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Orientação estruturada ao iniciar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Nenhum respondente declarou ter recebido uma apresentação completa e estruturada.</a:t>
            </a:r>
            <a:endParaRPr lang="en-US" sz="1250" dirty="0"/>
          </a:p>
        </p:txBody>
      </p:sp>
      <p:pic>
        <p:nvPicPr>
          <p:cNvPr id="4" name="Image 0" descr="/mnt/data/gabinete_forms_charts/06_orientacao_estrutur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667512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554480"/>
            <a:ext cx="3977640" cy="434340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7556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Lacuna central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799832" y="2322576"/>
            <a:ext cx="100584" cy="100584"/>
          </a:xfrm>
          <a:prstGeom prst="ellipse">
            <a:avLst/>
          </a:prstGeom>
          <a:solidFill>
            <a:srgbClr val="3C8DAD"/>
          </a:solidFill>
          <a:ln w="12700">
            <a:solidFill>
              <a:srgbClr val="3C8D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01000" y="2240280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50% receberam apenas orientação parcial.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799832" y="3127248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304495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40% afirmaram não ter recebido orientação estruturada.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7799832" y="3931920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3849624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10% não se recordam de ter recebido orientação.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7726680" y="5166360"/>
            <a:ext cx="3611880" cy="658368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3C2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09560" y="5349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5A00"/>
                </a:solidFill>
              </a:rPr>
              <a:t>Resultado: 90% relatam ausência ou cobertura apenas parcial.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Como se aprende nos três primeiros meses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 aprendizagem acontece principalmente pela observação e pela prática.</a:t>
            </a:r>
            <a:endParaRPr lang="en-US" sz="1250" dirty="0"/>
          </a:p>
        </p:txBody>
      </p:sp>
      <p:pic>
        <p:nvPicPr>
          <p:cNvPr id="4" name="Image 0" descr="/mnt/data/gabinete_forms_charts/07_aprendizagem_3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80160"/>
            <a:ext cx="763524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19872" y="1481328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48472" y="168249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Leituras principais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375904" y="2249424"/>
            <a:ext cx="100584" cy="100584"/>
          </a:xfrm>
          <a:prstGeom prst="ellipse">
            <a:avLst/>
          </a:prstGeom>
          <a:solidFill>
            <a:srgbClr val="3C8DAD"/>
          </a:solidFill>
          <a:ln w="12700">
            <a:solidFill>
              <a:srgbClr val="3C8D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77072" y="2167128"/>
            <a:ext cx="271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90% aprenderam observando a rotina.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8375904" y="3054096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77072" y="2971800"/>
            <a:ext cx="271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70% citaram prática, tentativa e erro.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375904" y="3858768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77072" y="3776472"/>
            <a:ext cx="271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Apenas 10% mencionaram manuais ou procedimentos escritos.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Qual forma foi mais importante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 transmissão direta entre pessoas foi considerada decisiva.</a:t>
            </a:r>
            <a:endParaRPr lang="en-US" sz="1250" dirty="0"/>
          </a:p>
        </p:txBody>
      </p:sp>
      <p:pic>
        <p:nvPicPr>
          <p:cNvPr id="4" name="Image 0" descr="/mnt/data/gabinete_forms_charts/08_mais_importa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7315200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50876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17099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Leituras principais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165592" y="2276856"/>
            <a:ext cx="100584" cy="100584"/>
          </a:xfrm>
          <a:prstGeom prst="ellipse">
            <a:avLst/>
          </a:prstGeom>
          <a:solidFill>
            <a:srgbClr val="3C8DAD"/>
          </a:solidFill>
          <a:ln w="12700">
            <a:solidFill>
              <a:srgbClr val="3C8D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66760" y="2194560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60% escolheram orientação de colegas ou do assessor que saía.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8165592" y="3081528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66760" y="2999232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20% indicaram prática, tentativa e erro.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165592" y="3886200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6760" y="3803904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O conhecimento depende fortemente da disponibilidade de pessoas experientes.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Tempo para alcançar autonomia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Para metade, a autonomia razoável surgiu entre quatro e seis meses.</a:t>
            </a:r>
            <a:endParaRPr lang="en-US" sz="1250" dirty="0"/>
          </a:p>
        </p:txBody>
      </p:sp>
      <p:pic>
        <p:nvPicPr>
          <p:cNvPr id="4" name="Image 0" descr="/mnt/data/gabinete_forms_charts/09_autonom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7315200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50876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17099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Leituras principais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165592" y="2276856"/>
            <a:ext cx="100584" cy="100584"/>
          </a:xfrm>
          <a:prstGeom prst="ellipse">
            <a:avLst/>
          </a:prstGeom>
          <a:solidFill>
            <a:srgbClr val="3C8DAD"/>
          </a:solidFill>
          <a:ln w="12700">
            <a:solidFill>
              <a:srgbClr val="3C8D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66760" y="2194560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50% precisaram de 4 a 6 meses.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8165592" y="3081528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66760" y="2999232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20% alcançaram autonomia em 1 a 3 meses.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165592" y="3886200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6760" y="3803904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20% levaram 7 meses ou mais.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O que teria tornado o início mais seguro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Os respondentes priorizam preparação interna antes do início e materiais de referência.</a:t>
            </a:r>
            <a:endParaRPr lang="en-US" sz="1250" dirty="0"/>
          </a:p>
        </p:txBody>
      </p:sp>
      <p:pic>
        <p:nvPicPr>
          <p:cNvPr id="4" name="Image 0" descr="/mnt/data/gabinete_forms_charts/10_recursos_deseja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8448"/>
            <a:ext cx="740664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481328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83880" y="16824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Prioridades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11312" y="2249424"/>
            <a:ext cx="100584" cy="100584"/>
          </a:xfrm>
          <a:prstGeom prst="ellipse">
            <a:avLst/>
          </a:prstGeom>
          <a:solidFill>
            <a:srgbClr val="3C8DAD"/>
          </a:solidFill>
          <a:ln w="12700">
            <a:solidFill>
              <a:srgbClr val="3C8D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2167128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50% pedem treinamento interno antes da atuação.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8211312" y="3054096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0" y="2971800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40% apontam manual, procedimentos e modelos internos.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211312" y="3858768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3776472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30% valorizam treinamento da Escola Judicial.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Síntese dos achados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O processo atual funciona, mas depende excessivamente de aprendizagem informal e conhecimento tácito.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673352"/>
            <a:ext cx="530352" cy="5303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4650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36192" y="16002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Entrada heterogênea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193852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Metade chega sem experiência semelhante, e o conhecimento inicial varia.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08" y="1673352"/>
            <a:ext cx="530352" cy="530352"/>
          </a:xfrm>
          <a:prstGeom prst="ellipse">
            <a:avLst/>
          </a:prstGeom>
          <a:solidFill>
            <a:srgbClr val="3C8DAD"/>
          </a:solidFill>
          <a:ln w="12700">
            <a:solidFill>
              <a:srgbClr val="3C8D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74650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59752" y="16002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Integração incompleta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59752" y="193852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90% relatam ausência de orientação estruturada ou orientação apenas parcial.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182112"/>
            <a:ext cx="530352" cy="5303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25526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36192" y="31089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Dependência das pessoas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36192" y="34472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Colegas e antecessores são as fontes mais importantes de adaptação.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292608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4808" y="3182112"/>
            <a:ext cx="530352" cy="530352"/>
          </a:xfrm>
          <a:prstGeom prst="ellipse">
            <a:avLst/>
          </a:prstGeom>
          <a:solidFill>
            <a:srgbClr val="3C8DAD"/>
          </a:solidFill>
          <a:ln w="12700">
            <a:solidFill>
              <a:srgbClr val="3C8D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325526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59752" y="31089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Aprendizagem por exposição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59752" y="34472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Observação e tentativa e erro predominam nos primeiros meses.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4690872"/>
            <a:ext cx="530352" cy="5303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76402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36192" y="46177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Autonomia gradual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36192" y="49560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Para a maioria, a segurança funcional exige vários meses.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43484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64808" y="4690872"/>
            <a:ext cx="530352" cy="530352"/>
          </a:xfrm>
          <a:prstGeom prst="ellipse">
            <a:avLst/>
          </a:prstGeom>
          <a:solidFill>
            <a:srgbClr val="3C8DAD"/>
          </a:solidFill>
          <a:ln w="12700">
            <a:solidFill>
              <a:srgbClr val="3C8DA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64808" y="476402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59752" y="46177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Demanda clara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59752" y="49560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Treinamento prévio e manual interno aparecem como prioridades.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Recomendações para o Gabinete+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Transformar conhecimento tácito em um processo de integração mais previsível, apoiado e rastreável.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5204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002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8DAD"/>
                </a:solidFill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194767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Trilha de integração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235915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Roteiro dos primeiros 30, 60 e 90 dias, com atividades e responsáveis.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53128" y="1417320"/>
            <a:ext cx="35204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296" y="16002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8DAD"/>
                </a:solidFill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54296" y="194767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Manual vivo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54296" y="235915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Procedimentos, modelos, checklists e orientações atualizáveis por atividade.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11896" y="1417320"/>
            <a:ext cx="35204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13064" y="16002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8DAD"/>
                </a:solidFill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13064" y="194767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Mentoria de transição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13064" y="235915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Registro do responsável por orientar o novo assessor e acompanhar a adaptação.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566160"/>
            <a:ext cx="35204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7490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8DAD"/>
                </a:solidFill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5528" y="409651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Treinamento prévio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5528" y="450799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Conteúdo interno essencial antes do início, complementado pela Escola Judicial.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53128" y="3566160"/>
            <a:ext cx="35204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37490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8DAD"/>
                </a:solidFill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54296" y="409651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Painel de aprendizagem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54296" y="450799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Acompanhamento de tarefas, dúvidas recorrentes e evolução da autonomia.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11896" y="3566160"/>
            <a:ext cx="35204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13064" y="37490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8DAD"/>
                </a:solidFill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13064" y="409651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Ciclo de melhoria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13064" y="450799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Coleta de feedback após 30 e 90 dias para atualizar materiais e fluxos.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</a:rPr>
              <a:t>Perguntas para discussão com a equipe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Os resultados podem ser usados para validar prioridades e desenhar o processo de integração.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475488" cy="47548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54480" y="1325880"/>
            <a:ext cx="9555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Quais atividades precisam ser ensinadas antes do primeiro dia?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475488" cy="475488"/>
          </a:xfrm>
          <a:prstGeom prst="ellipse">
            <a:avLst/>
          </a:prstGeom>
          <a:solidFill>
            <a:srgbClr val="3C8DAD"/>
          </a:solidFill>
          <a:ln w="12700">
            <a:solidFill>
              <a:srgbClr val="3C8D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414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286000"/>
            <a:ext cx="9555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Quais procedimentos devem obrigatoriamente estar documentados?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475488" cy="47548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0156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9555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Quem deve acompanhar o novo assessor nos primeiros 90 dias?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251960"/>
            <a:ext cx="475488" cy="475488"/>
          </a:xfrm>
          <a:prstGeom prst="ellipse">
            <a:avLst/>
          </a:prstGeom>
          <a:solidFill>
            <a:srgbClr val="3C8DAD"/>
          </a:solidFill>
          <a:ln w="12700">
            <a:solidFill>
              <a:srgbClr val="3C8D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6168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4206240"/>
            <a:ext cx="9555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Quais sinais indicam que a pessoa já atua com autonomia?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5212080"/>
            <a:ext cx="475488" cy="47548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32180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5166360"/>
            <a:ext cx="9555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Como o Gabinete+ pode apoiar sem tornar a rotina mais burocrática?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28816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Projeto Gabinete+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Diagnóstico do ingresso e da aprendizagem das funções de assessoria de gabinete no TRT9</dc:title>
  <dc:subject>Resultados do diagnóstico sobre ingresso e aprendizagem na assessoria de gabinete do TRT9</dc:subject>
  <dc:creator>Projeto Gabinete+</dc:creator>
  <cp:lastModifiedBy>Projeto Gabinete+</cp:lastModifiedBy>
  <cp:revision>1</cp:revision>
  <dcterms:created xsi:type="dcterms:W3CDTF">2026-08-02T01:49:21Z</dcterms:created>
  <dcterms:modified xsi:type="dcterms:W3CDTF">2026-08-02T01:49:21Z</dcterms:modified>
</cp:coreProperties>
</file>