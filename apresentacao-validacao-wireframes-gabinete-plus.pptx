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Gabinete+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Validação dos wireframes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 baixa fidelidade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36393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4F4"/>
                </a:solidFill>
              </a:rPr>
              <a:t>Apresentação aos assessores do gabinete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4133088"/>
            <a:ext cx="2011680" cy="0"/>
          </a:xfrm>
          <a:prstGeom prst="line">
            <a:avLst/>
          </a:prstGeom>
          <a:noFill/>
          <a:ln w="50800">
            <a:solidFill>
              <a:srgbClr val="D49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1463040"/>
            <a:ext cx="1691640" cy="35661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53528" y="1783080"/>
            <a:ext cx="147218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08392" y="157276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Início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829800" y="1874520"/>
            <a:ext cx="1691640" cy="356616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39528" y="2194560"/>
            <a:ext cx="147218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94392" y="198424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Tarefas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13232" y="5349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Objetivo da reunião: validar estrutura, linguagem e prioridades antes do protótipo visual.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Por que validar agora?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Antes de desenhar a interface final, precisamos confirmar se a estrutura representa a rotina real.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417320"/>
            <a:ext cx="73152" cy="2011680"/>
          </a:xfrm>
          <a:prstGeom prst="rect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Evitar retrabalho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1929384"/>
            <a:ext cx="292608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 baixa fidelidade permite corrigir fluxos, nomes e campos antes de investir tempo em design visual.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07408" y="14173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417320"/>
            <a:ext cx="73152" cy="201168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Usar a rotina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6008" y="1929384"/>
            <a:ext cx="292608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 proposta foi construída a partir das atribuições da assessoria, do checklist de atividades e das necessidades de substituição.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41732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17320"/>
            <a:ext cx="73152" cy="2011680"/>
          </a:xfrm>
          <a:prstGeom prst="rect">
            <a:avLst/>
          </a:prstGeom>
          <a:solidFill>
            <a:srgbClr val="A44E43"/>
          </a:solidFill>
          <a:ln w="12700">
            <a:solidFill>
              <a:srgbClr val="A44E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5819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Decidir prioridades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0184" y="1929384"/>
            <a:ext cx="292608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 reunião ajudará a separar o essencial para o protótipo do que pode ficar para versões futuras.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4343400"/>
            <a:ext cx="10241280" cy="0"/>
          </a:xfrm>
          <a:prstGeom prst="line">
            <a:avLst/>
          </a:prstGeom>
          <a:noFill/>
          <a:ln w="15240">
            <a:solidFill>
              <a:srgbClr val="B8AD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069080"/>
            <a:ext cx="530352" cy="530352"/>
          </a:xfrm>
          <a:prstGeom prst="ellipse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187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4681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2B"/>
                </a:solidFill>
              </a:rPr>
              <a:t>Mapear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03320" y="4069080"/>
            <a:ext cx="530352" cy="530352"/>
          </a:xfrm>
          <a:prstGeom prst="ellipse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4187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4681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2B"/>
                </a:solidFill>
              </a:rPr>
              <a:t>Validar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4069080"/>
            <a:ext cx="530352" cy="530352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187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4681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2B"/>
                </a:solidFill>
              </a:rPr>
              <a:t>Ajustar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89720" y="4069080"/>
            <a:ext cx="530352" cy="530352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418795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15400" y="4681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2B"/>
                </a:solidFill>
              </a:rPr>
              <a:t>Protótipo visual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55321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B65"/>
                </a:solidFill>
              </a:rPr>
              <a:t>Hoje estamos na etapa 2: testar o desenho com quem executa a rotina.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O problema que o Gabinete+ tenta resolver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Rotinas numerosas, recorrentes e distribuídas entre pessoas, sistemas e documentos.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141732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8191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Informação dispersa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29384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E-mails, planilhas, PJe, controles internos, links e orientações ficam separados.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417320"/>
            <a:ext cx="73152" cy="1417320"/>
          </a:xfrm>
          <a:prstGeom prst="rect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58191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Conhecimento informal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1929384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Parte relevante da rotina depende da memória e da experiência de quem executa.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03320"/>
            <a:ext cx="73152" cy="1417320"/>
          </a:xfrm>
          <a:prstGeom prst="rect">
            <a:avLst/>
          </a:prstGeom>
          <a:solidFill>
            <a:srgbClr val="A44E43"/>
          </a:solidFill>
          <a:ln w="12700">
            <a:solidFill>
              <a:srgbClr val="A44E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86791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Substituição difícil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215384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Férias e afastamentos exigem transferência rápida de contexto, tarefas e prioridades.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70332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703320"/>
            <a:ext cx="73152" cy="141732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6791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Recorrência invisível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215384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Atividades diárias, semanais, mensais e eventuais precisam ser lembradas e conferidas.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43400" y="2880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666E"/>
                </a:solidFill>
              </a:rPr>
              <a:t>Pergunta central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3136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42B"/>
                </a:solidFill>
              </a:rPr>
              <a:t>Como transformar rotina dispersa em tarefas claras, atribuídas e rastreáveis?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Perfis que o sistema precisa atender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As permissões dependem do cargo atual e também de substituições temporárias.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344168" y="14173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24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17373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MG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Magistrado gestor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2084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66E"/>
                </a:solidFill>
              </a:rPr>
              <a:t>visão geral, prioridades, relatórios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11880" y="1417320"/>
            <a:ext cx="960120" cy="960120"/>
          </a:xfrm>
          <a:prstGeom prst="ellipse">
            <a:avLst/>
          </a:prstGeom>
          <a:solidFill>
            <a:srgbClr val="0F6B65"/>
          </a:solidFill>
          <a:ln w="12700">
            <a:solidFill>
              <a:srgbClr val="1724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373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4952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Assessor-chefe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44952" y="3090672"/>
            <a:ext cx="2084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66E"/>
                </a:solidFill>
              </a:rPr>
              <a:t>coordena tarefas, atividades e equipe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79592" y="14173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24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17373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A1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12664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Assessor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12664" y="3090672"/>
            <a:ext cx="2084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66E"/>
                </a:solidFill>
              </a:rPr>
              <a:t>executa atividades processuais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47304" y="1417320"/>
            <a:ext cx="960120" cy="960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724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47304" y="17373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A2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0376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Assessor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0376" y="3090672"/>
            <a:ext cx="2084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66E"/>
                </a:solidFill>
              </a:rPr>
              <a:t>atua de forma alternada com o Assessor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415016" y="1417320"/>
            <a:ext cx="960120" cy="960120"/>
          </a:xfrm>
          <a:prstGeom prst="ellipse">
            <a:avLst/>
          </a:prstGeom>
          <a:solidFill>
            <a:srgbClr val="D49A2A"/>
          </a:solidFill>
          <a:ln w="12700">
            <a:solidFill>
              <a:srgbClr val="1724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15016" y="17373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SUB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48088" y="25420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Substituto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48088" y="3090672"/>
            <a:ext cx="2084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666E"/>
                </a:solidFill>
              </a:rPr>
              <a:t>assume temporariamente um perfil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70432" y="4572000"/>
            <a:ext cx="9875520" cy="960120"/>
          </a:xfrm>
          <a:prstGeom prst="roundRect">
            <a:avLst>
              <a:gd name="adj" fmla="val 7619"/>
            </a:avLst>
          </a:prstGeom>
          <a:solidFill>
            <a:srgbClr val="DCEDEA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47731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B65"/>
                </a:solidFill>
              </a:rPr>
              <a:t>Regra-chave: usuário ≠ cargo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4773168"/>
            <a:ext cx="6080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42B"/>
                </a:solidFill>
              </a:rPr>
              <a:t>Uma pessoa pode mudar de função no futuro, e o sistema deve preservar histórico, responsabilidades e substituições.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Atividades: da rotina ao acompanhamento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O catálogo organiza o que precisa ser feito, com categoria, frequência e responsável padrão.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46304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82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B65"/>
                </a:solidFill>
              </a:rPr>
              <a:t>Diária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97280" y="2148840"/>
            <a:ext cx="1783080" cy="0"/>
          </a:xfrm>
          <a:prstGeom prst="line">
            <a:avLst/>
          </a:prstGeom>
          <a:noFill/>
          <a:ln w="25400">
            <a:solidFill>
              <a:srgbClr val="0F6B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66E"/>
                </a:solidFill>
              </a:rPr>
              <a:t>e-Gestão, e-mail, balcão virtual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2423160" cy="2743200"/>
          </a:xfrm>
          <a:prstGeom prst="rect">
            <a:avLst/>
          </a:prstGeom>
          <a:solidFill>
            <a:srgbClr val="F3E4C7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682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42B"/>
                </a:solidFill>
              </a:rPr>
              <a:t>Semanal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886200" y="2148840"/>
            <a:ext cx="1783080" cy="0"/>
          </a:xfrm>
          <a:prstGeom prst="line">
            <a:avLst/>
          </a:prstGeom>
          <a:noFill/>
          <a:ln w="25400">
            <a:solidFill>
              <a:srgbClr val="D49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66E"/>
                </a:solidFill>
              </a:rPr>
              <a:t>lista de vistar voto, escala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1463040"/>
            <a:ext cx="24231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682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B65"/>
                </a:solidFill>
              </a:rPr>
              <a:t>Mensal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675120" y="2148840"/>
            <a:ext cx="1783080" cy="0"/>
          </a:xfrm>
          <a:prstGeom prst="line">
            <a:avLst/>
          </a:prstGeom>
          <a:noFill/>
          <a:ln w="25400">
            <a:solidFill>
              <a:srgbClr val="0F6B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66E"/>
                </a:solidFill>
              </a:rPr>
              <a:t>produção, sessões, frequências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1463040"/>
            <a:ext cx="2423160" cy="2743200"/>
          </a:xfrm>
          <a:prstGeom prst="rect">
            <a:avLst/>
          </a:prstGeom>
          <a:solidFill>
            <a:srgbClr val="F3E4C7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682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42B"/>
                </a:solidFill>
              </a:rPr>
              <a:t>Eventual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464040" y="2148840"/>
            <a:ext cx="1783080" cy="0"/>
          </a:xfrm>
          <a:prstGeom prst="line">
            <a:avLst/>
          </a:prstGeom>
          <a:noFill/>
          <a:ln w="25400">
            <a:solidFill>
              <a:srgbClr val="D49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2514600"/>
            <a:ext cx="2011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66E"/>
                </a:solidFill>
              </a:rPr>
              <a:t>teletrabalho, viagens, reparos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074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Atividade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57400" y="5184648"/>
            <a:ext cx="868680" cy="0"/>
          </a:xfrm>
          <a:prstGeom prst="line">
            <a:avLst/>
          </a:prstGeom>
          <a:noFill/>
          <a:ln w="17780">
            <a:solidFill>
              <a:srgbClr val="0F6B65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063240" y="50749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Recorrência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5184648"/>
            <a:ext cx="868680" cy="0"/>
          </a:xfrm>
          <a:prstGeom prst="line">
            <a:avLst/>
          </a:prstGeom>
          <a:noFill/>
          <a:ln w="17780">
            <a:solidFill>
              <a:srgbClr val="0F6B65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577840" y="5074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Tarefa gerada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60920" y="5184648"/>
            <a:ext cx="868680" cy="0"/>
          </a:xfrm>
          <a:prstGeom prst="line">
            <a:avLst/>
          </a:prstGeom>
          <a:noFill/>
          <a:ln w="17780">
            <a:solidFill>
              <a:srgbClr val="0F6B65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366760" y="5074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B"/>
                </a:solidFill>
              </a:rPr>
              <a:t>Execução + histórico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Estrutura proposta do aplicativo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Navegação simples no celular, com módulos visíveis conforme permissão.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41248" y="14630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DCEDEA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Início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2416" y="2084832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resumos, alertas e prioridades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90288" y="14630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Tarefas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91456" y="2084832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execução, prazos, transferência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39328" y="14630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0496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Atividades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40496" y="2084832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cadastro, frequência, instruções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5204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721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Equipe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42416" y="4142232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cargos, carga de trabalho, histórico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90288" y="35204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721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Substituições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91456" y="4142232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início, encerramento, relatório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39328" y="352044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0496" y="3721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Relatórios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40496" y="4142232"/>
            <a:ext cx="2651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produção, atrasos, acontecimentos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20240" y="5806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B65"/>
                </a:solidFill>
              </a:rPr>
              <a:t>Navegação inferior sugerida: Início · Tarefas · Atividades · Mais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Dois fluxos que precisamos testar com vocês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 validação deve confirmar se as etapas fazem sentido na rotina real.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Fluxo 1 · atividade recorrente vira tarefa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12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Cadastrar atividade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31720" y="2249424"/>
            <a:ext cx="539496" cy="0"/>
          </a:xfrm>
          <a:prstGeom prst="line">
            <a:avLst/>
          </a:prstGeom>
          <a:noFill/>
          <a:ln w="17780">
            <a:solidFill>
              <a:srgbClr val="0F6B6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192024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112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Definir frequência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2249424"/>
            <a:ext cx="539496" cy="0"/>
          </a:xfrm>
          <a:prstGeom prst="line">
            <a:avLst/>
          </a:prstGeom>
          <a:noFill/>
          <a:ln w="17780">
            <a:solidFill>
              <a:srgbClr val="0F6B6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92024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3E4C7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112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Gerar tarefa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2249424"/>
            <a:ext cx="539496" cy="0"/>
          </a:xfrm>
          <a:prstGeom prst="line">
            <a:avLst/>
          </a:prstGeom>
          <a:noFill/>
          <a:ln w="17780">
            <a:solidFill>
              <a:srgbClr val="0F6B6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9480" y="192024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112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Executar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0" y="2249424"/>
            <a:ext cx="539496" cy="0"/>
          </a:xfrm>
          <a:prstGeom prst="line">
            <a:avLst/>
          </a:prstGeom>
          <a:noFill/>
          <a:ln w="17780">
            <a:solidFill>
              <a:srgbClr val="0F6B6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18320" y="192024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112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Registrar histórico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42B"/>
                </a:solidFill>
              </a:rPr>
              <a:t>Fluxo 2 · substituição temporária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29768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4897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Escolher titular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31720" y="4626864"/>
            <a:ext cx="539496" cy="0"/>
          </a:xfrm>
          <a:prstGeom prst="line">
            <a:avLst/>
          </a:prstGeom>
          <a:noFill/>
          <a:ln w="17780">
            <a:solidFill>
              <a:srgbClr val="D49A2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71800" y="429768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44897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Escolher substituto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4626864"/>
            <a:ext cx="539496" cy="0"/>
          </a:xfrm>
          <a:prstGeom prst="line">
            <a:avLst/>
          </a:prstGeom>
          <a:noFill/>
          <a:ln w="17780">
            <a:solidFill>
              <a:srgbClr val="D49A2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20640" y="429768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DCEDEA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44897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Verificar conflito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9400" y="4626864"/>
            <a:ext cx="539496" cy="0"/>
          </a:xfrm>
          <a:prstGeom prst="line">
            <a:avLst/>
          </a:prstGeom>
          <a:noFill/>
          <a:ln w="17780">
            <a:solidFill>
              <a:srgbClr val="D49A2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69480" y="429768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44897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Ativar acesso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78240" y="4626864"/>
            <a:ext cx="539496" cy="0"/>
          </a:xfrm>
          <a:prstGeom prst="line">
            <a:avLst/>
          </a:prstGeom>
          <a:noFill/>
          <a:ln w="17780">
            <a:solidFill>
              <a:srgbClr val="D49A2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418320" y="429768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09760" y="44897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42B"/>
                </a:solidFill>
              </a:rPr>
              <a:t>Encerrar + relatório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97280" y="56235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8666E"/>
                </a:solidFill>
              </a:rPr>
              <a:t>Pontos de atenção: quem pode transferir, quando justificar, o que fica no histórico e o que o substituto pode ver.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Wireframes que serão apresentados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 proposta visual é intencionalmente simples: o foco é conteúdo, ordem e fluxo.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73736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52704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Login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0370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8716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41732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173736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152704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Início assessor-chefe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90672" y="192024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220370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90672" y="248716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21224" y="141732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30952" y="173736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85816" y="152704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Início assessor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358384" y="192024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220370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8384" y="248716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88936" y="141732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98664" y="173736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152704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Lista de tarefas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26096" y="192024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220370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6096" y="248716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56648" y="141732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66376" y="173736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21240" y="152704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Detalhes da tarefa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893808" y="192024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93808" y="220370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93808" y="248716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356616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" y="388620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367588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Cadastro de atividade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22960" y="406908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435254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" y="463600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53512" y="356616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63240" y="388620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18104" y="367588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Equipe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90672" y="406908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90672" y="435254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90672" y="463600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21224" y="356616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30952" y="388620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85816" y="367588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Nova substituição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358384" y="406908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58384" y="435254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58384" y="463600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88936" y="356616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98664" y="388620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53528" y="367588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Detalhes da substituição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626096" y="406908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26096" y="435254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26096" y="463600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756648" y="3566160"/>
            <a:ext cx="1143000" cy="169164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17242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66376" y="3886200"/>
            <a:ext cx="923544" cy="36576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921240" y="3675888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666E"/>
                </a:solidFill>
              </a:rPr>
              <a:t>Menu Mais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893808" y="4069080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93808" y="4352544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893808" y="4636008"/>
            <a:ext cx="868680" cy="164592"/>
          </a:xfrm>
          <a:prstGeom prst="rect">
            <a:avLst/>
          </a:prstGeom>
          <a:solidFill>
            <a:srgbClr val="E7E3DA"/>
          </a:solidFill>
          <a:ln w="12700">
            <a:solidFill>
              <a:srgbClr val="E7E3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05840" y="59436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65"/>
                </a:solidFill>
              </a:rPr>
              <a:t>Durante a reunião, avaliaremos essas telas por cenários práticos: encontrar, cadastrar, transferir e substituir.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Como faremos a validação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Sessão curta, orientada por cenários de uso.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60120" y="1344168"/>
            <a:ext cx="438912" cy="438912"/>
          </a:xfrm>
          <a:prstGeom prst="ellipse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7218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0" y="134416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Contexto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60520" y="137160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apresentar objetivo e lembrar que ainda não é o app final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2212848"/>
            <a:ext cx="438912" cy="438912"/>
          </a:xfrm>
          <a:prstGeom prst="ellipse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4086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22128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Percurso guiado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224028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mostrar as telas principais e o que cada uma representa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3081528"/>
            <a:ext cx="438912" cy="438912"/>
          </a:xfrm>
          <a:prstGeom prst="ellipse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09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30815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Cenários práticos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0520" y="3108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pedir que vocês indiquem onde fariam cada ação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0120" y="3950208"/>
            <a:ext cx="438912" cy="438912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78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39502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Registro de feedback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60520" y="397764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anotar dúvidas, termos confusos, faltas e prioridades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120" y="4818888"/>
            <a:ext cx="438912" cy="438912"/>
          </a:xfrm>
          <a:prstGeom prst="ellipse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94690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48188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Decisões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60520" y="484632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separar ajuste obrigatório, desejável e futuro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5897880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DCEDEA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603504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6B65"/>
                </a:solidFill>
              </a:rPr>
              <a:t>Tempo sugerido: 45 a 60 minutos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Cenários para testar com os assessores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Não é pergunta abstrata: cada pessoa deve tentar se localizar no fluxo.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73152" cy="96012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904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Tarefa atrasada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37944"/>
            <a:ext cx="44348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Onde você veria o que está atrasado e quem é responsável?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325880"/>
            <a:ext cx="73152" cy="960120"/>
          </a:xfrm>
          <a:prstGeom prst="rect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49047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Atividade mensal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837944"/>
            <a:ext cx="44348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Como cadastraria uma rotina que ocorre entre os dias 30 e 31?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743200"/>
            <a:ext cx="73152" cy="96012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90779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Transferência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255264"/>
            <a:ext cx="44348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Como passaria uma tarefa para outro assessor e deixaria histórico?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274320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743200"/>
            <a:ext cx="73152" cy="960120"/>
          </a:xfrm>
          <a:prstGeom prst="rect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0779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Substituição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3255264"/>
            <a:ext cx="44348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Como ativaria substituição durante férias do assessor-chefe?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160520"/>
            <a:ext cx="73152" cy="96012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32511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Relatório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672584"/>
            <a:ext cx="44348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Onde encontraria resumo de pendências para o magistrado?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416052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4160520"/>
            <a:ext cx="73152" cy="960120"/>
          </a:xfrm>
          <a:prstGeom prst="rect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32511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B"/>
                </a:solidFill>
              </a:rPr>
              <a:t>Dúvida de execução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4672584"/>
            <a:ext cx="44348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Onde procuraria a instrução de como fazer uma atividade?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88720" y="58978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44E43"/>
                </a:solidFill>
              </a:rPr>
              <a:t>Para cada cenário, registraremos: concluiu? onde travou? que termo confundiu? o que faltou?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Decisões que precisamos tomar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O feedback desta semana direciona o protótipo de alta fidelidade.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Nomes dos módulos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80360" y="129844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Tarefas, Atividades, Substituições, Relatórios: fazem sentido?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847088"/>
            <a:ext cx="4754880" cy="0"/>
          </a:xfrm>
          <a:prstGeom prst="line">
            <a:avLst/>
          </a:prstGeom>
          <a:noFill/>
          <a:ln w="12700">
            <a:solidFill>
              <a:srgbClr val="B8AD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Permissões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271576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Quem pode cadastrar, editar, transferir, excluir e ver relatórios?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64408"/>
            <a:ext cx="4754880" cy="0"/>
          </a:xfrm>
          <a:prstGeom prst="line">
            <a:avLst/>
          </a:prstGeom>
          <a:noFill/>
          <a:ln w="12700">
            <a:solidFill>
              <a:srgbClr val="B8AD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14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Frequências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80360" y="413308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Há rotinas quinzenais? Como tratar sessões com calendário variável?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681728"/>
            <a:ext cx="4754880" cy="0"/>
          </a:xfrm>
          <a:prstGeom prst="line">
            <a:avLst/>
          </a:prstGeom>
          <a:noFill/>
          <a:ln w="12700">
            <a:solidFill>
              <a:srgbClr val="B8AD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280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Prioridades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129844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Quais tarefas exigem destaque, alerta ou relatório?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46520" y="1847088"/>
            <a:ext cx="4754880" cy="0"/>
          </a:xfrm>
          <a:prstGeom prst="line">
            <a:avLst/>
          </a:prstGeom>
          <a:noFill/>
          <a:ln w="12700">
            <a:solidFill>
              <a:srgbClr val="B8AD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697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Histórico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71576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Quais alterações precisam ficar registradas obrigatoriamente?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264408"/>
            <a:ext cx="4754880" cy="0"/>
          </a:xfrm>
          <a:prstGeom prst="line">
            <a:avLst/>
          </a:prstGeom>
          <a:noFill/>
          <a:ln w="12700">
            <a:solidFill>
              <a:srgbClr val="B8AD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14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B"/>
                </a:solidFill>
              </a:rPr>
              <a:t>Substituição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4133088"/>
            <a:ext cx="30632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8666E"/>
                </a:solidFill>
              </a:rPr>
              <a:t>O que o substituto deve receber e o que deve devolver?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681728"/>
            <a:ext cx="4754880" cy="0"/>
          </a:xfrm>
          <a:prstGeom prst="line">
            <a:avLst/>
          </a:prstGeom>
          <a:noFill/>
          <a:ln w="12700">
            <a:solidFill>
              <a:srgbClr val="B8AD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48" y="1325880"/>
            <a:ext cx="18288" cy="4114800"/>
          </a:xfrm>
          <a:prstGeom prst="rect">
            <a:avLst/>
          </a:prstGeom>
          <a:solidFill>
            <a:srgbClr val="B8ADA1"/>
          </a:solidFill>
          <a:ln w="12700">
            <a:solidFill>
              <a:srgbClr val="B8ADA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2B"/>
                </a:solidFill>
              </a:rPr>
              <a:t>Resultado esperado da reunião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21792" y="86868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66E"/>
                </a:solidFill>
              </a:rPr>
              <a:t>Ao final, precisamos sair com ajustes claros e priorizados.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51560" y="14630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3E4C7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Ajustes obrigatórios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21408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Problemas que impedem entender ou usar o fluxo.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Ajustes desejáveis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121408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Melhorias que podem entrar antes do protótipo visual.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51560" y="338328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584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Fora do escopo v1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041648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Ideias boas, mas grandes demais para o protótipo inicial.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AD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584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Decisões pendentes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4041648"/>
            <a:ext cx="39776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666E"/>
                </a:solidFill>
              </a:rPr>
              <a:t>Pontos que exigem validação com magistrado ou regra interna.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" y="57150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B65"/>
                </a:solidFill>
              </a:rPr>
              <a:t>Próximo passo: ajustar wireframes → aprovar estrutura → criar protótipo de alta fidelidade.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3EA"/>
                </a:solidFill>
              </a:rPr>
              <a:t>Gabinete+ · validação com assessores · 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42B"/>
                </a:solidFill>
              </a:rPr>
              <a:t>O que eu preciso de vocês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810512"/>
            <a:ext cx="128016" cy="41148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Realidade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1764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66E"/>
                </a:solidFill>
              </a:rPr>
              <a:t>apontem quando a tela não representar a rotina real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770632"/>
            <a:ext cx="128016" cy="411480"/>
          </a:xfrm>
          <a:prstGeom prst="rect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Linguagem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27249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66E"/>
                </a:solidFill>
              </a:rPr>
              <a:t>corrijam nomes, categorias e termos que não usamos no gabinete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730752"/>
            <a:ext cx="128016" cy="41148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Prioridade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3685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66E"/>
                </a:solidFill>
              </a:rPr>
              <a:t>indiquem o que é essencial para o protótipo do TCC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690872"/>
            <a:ext cx="128016" cy="411480"/>
          </a:xfrm>
          <a:prstGeom prst="rect">
            <a:avLst/>
          </a:prstGeom>
          <a:solidFill>
            <a:srgbClr val="D49A2A"/>
          </a:solidFill>
          <a:ln w="12700">
            <a:solidFill>
              <a:srgbClr val="D49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B"/>
                </a:solidFill>
              </a:rPr>
              <a:t>Risco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46451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66E"/>
                </a:solidFill>
              </a:rPr>
              <a:t>sinalizem pontos sensíveis de permissão, histórico e substituição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0"/>
            <a:ext cx="3959352" cy="6629400"/>
          </a:xfrm>
          <a:prstGeom prst="rect">
            <a:avLst/>
          </a:prstGeom>
          <a:solidFill>
            <a:srgbClr val="0F6B65"/>
          </a:solidFill>
          <a:ln w="12700">
            <a:solidFill>
              <a:srgbClr val="0F6B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Gabinete+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4964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Construído com a rotina do gabinete, validado por quem executa.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Gabinete+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Gabinete+ — Validação com assessores</dc:title>
  <dc:subject>Validação dos wireframes de baixa fidelidade</dc:subject>
  <dc:creator>Gabinete+</dc:creator>
  <cp:lastModifiedBy>Gabinete+</cp:lastModifiedBy>
  <cp:revision>1</cp:revision>
  <dcterms:created xsi:type="dcterms:W3CDTF">2026-08-02T01:18:28Z</dcterms:created>
  <dcterms:modified xsi:type="dcterms:W3CDTF">2026-08-02T01:18:28Z</dcterms:modified>
</cp:coreProperties>
</file>